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Source Code Pro"/>
      <p:regular r:id="rId20"/>
      <p:bold r:id="rId21"/>
      <p:italic r:id="rId22"/>
      <p:boldItalic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CodePro-regular.fntdata"/><Relationship Id="rId22" Type="http://schemas.openxmlformats.org/officeDocument/2006/relationships/font" Target="fonts/SourceCodePro-italic.fntdata"/><Relationship Id="rId21" Type="http://schemas.openxmlformats.org/officeDocument/2006/relationships/font" Target="fonts/SourceCodePro-bold.fntdata"/><Relationship Id="rId24" Type="http://schemas.openxmlformats.org/officeDocument/2006/relationships/font" Target="fonts/Oswald-regular.fntdata"/><Relationship Id="rId23" Type="http://schemas.openxmlformats.org/officeDocument/2006/relationships/font" Target="fonts/SourceCodePr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93e08aaf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93e08aaf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tr">
                <a:solidFill>
                  <a:schemeClr val="dk1"/>
                </a:solidFill>
              </a:rPr>
              <a:t>IDS:</a:t>
            </a:r>
            <a:r>
              <a:rPr lang="tr">
                <a:solidFill>
                  <a:schemeClr val="dk1"/>
                </a:solidFill>
              </a:rPr>
              <a:t> İzler, uyarır. - Intrusion Detection System (Saldırı Tespit Sistemi)</a:t>
            </a:r>
            <a:endParaRPr>
              <a:solidFill>
                <a:schemeClr val="dk1"/>
              </a:solidFill>
            </a:endParaRPr>
          </a:p>
          <a:p>
            <a:pPr indent="0" lvl="0" marL="0" rtl="0" algn="l">
              <a:spcBef>
                <a:spcPts val="0"/>
              </a:spcBef>
              <a:spcAft>
                <a:spcPts val="0"/>
              </a:spcAft>
              <a:buClr>
                <a:schemeClr val="dk1"/>
              </a:buClr>
              <a:buSzPts val="1100"/>
              <a:buFont typeface="Arial"/>
              <a:buNone/>
            </a:pPr>
            <a:r>
              <a:rPr b="1" lang="tr">
                <a:solidFill>
                  <a:schemeClr val="dk1"/>
                </a:solidFill>
              </a:rPr>
              <a:t>IPS:</a:t>
            </a:r>
            <a:r>
              <a:rPr lang="tr">
                <a:solidFill>
                  <a:schemeClr val="dk1"/>
                </a:solidFill>
              </a:rPr>
              <a:t> İzler, durdurur. - Intrusion Prevention System (Saldırı Önleme Sistemi)</a:t>
            </a:r>
            <a:endParaRPr>
              <a:solidFill>
                <a:schemeClr val="dk1"/>
              </a:solidFill>
            </a:endParaRPr>
          </a:p>
          <a:p>
            <a:pPr indent="0" lvl="0" marL="0" rtl="0" algn="l">
              <a:spcBef>
                <a:spcPts val="0"/>
              </a:spcBef>
              <a:spcAft>
                <a:spcPts val="0"/>
              </a:spcAft>
              <a:buClr>
                <a:schemeClr val="dk1"/>
              </a:buClr>
              <a:buSzPts val="1100"/>
              <a:buFont typeface="Arial"/>
              <a:buNone/>
            </a:pPr>
            <a:r>
              <a:rPr b="1" lang="tr">
                <a:solidFill>
                  <a:schemeClr val="dk1"/>
                </a:solidFill>
              </a:rPr>
              <a:t>Snort:</a:t>
            </a:r>
            <a:r>
              <a:rPr lang="tr">
                <a:solidFill>
                  <a:schemeClr val="dk1"/>
                </a:solidFill>
              </a:rPr>
              <a:t> Klasik, tek şeritli yol. - Domuz sesi anlamına gelir (Logosu da bir domuzdur).</a:t>
            </a:r>
            <a:endParaRPr>
              <a:solidFill>
                <a:schemeClr val="dk1"/>
              </a:solidFill>
            </a:endParaRPr>
          </a:p>
          <a:p>
            <a:pPr indent="0" lvl="0" marL="0" rtl="0" algn="l">
              <a:spcBef>
                <a:spcPts val="0"/>
              </a:spcBef>
              <a:spcAft>
                <a:spcPts val="0"/>
              </a:spcAft>
              <a:buClr>
                <a:schemeClr val="dk1"/>
              </a:buClr>
              <a:buSzPts val="1100"/>
              <a:buFont typeface="Arial"/>
              <a:buNone/>
            </a:pPr>
            <a:r>
              <a:rPr b="1" lang="tr">
                <a:solidFill>
                  <a:schemeClr val="dk1"/>
                </a:solidFill>
              </a:rPr>
              <a:t>Suricata:</a:t>
            </a:r>
            <a:r>
              <a:rPr lang="tr">
                <a:solidFill>
                  <a:schemeClr val="dk1"/>
                </a:solidFill>
              </a:rPr>
              <a:t> Modern, çok şeritli otoban. -  "Mirket" (Meerkat) hayvanının bilimsel adıdır.</a:t>
            </a:r>
            <a:endParaRPr>
              <a:solidFill>
                <a:schemeClr val="dk1"/>
              </a:solidFill>
            </a:endParaRPr>
          </a:p>
          <a:p>
            <a:pPr indent="0" lvl="0" marL="0" rtl="0" algn="l">
              <a:spcBef>
                <a:spcPts val="0"/>
              </a:spcBef>
              <a:spcAft>
                <a:spcPts val="0"/>
              </a:spcAft>
              <a:buClr>
                <a:schemeClr val="dk1"/>
              </a:buClr>
              <a:buSzPts val="1100"/>
              <a:buFont typeface="Arial"/>
              <a:buNone/>
            </a:pPr>
            <a:r>
              <a:rPr b="1" lang="tr">
                <a:solidFill>
                  <a:schemeClr val="dk1"/>
                </a:solidFill>
              </a:rPr>
              <a:t>İmza Tabanlı:</a:t>
            </a:r>
            <a:r>
              <a:rPr lang="tr">
                <a:solidFill>
                  <a:schemeClr val="dk1"/>
                </a:solidFill>
              </a:rPr>
              <a:t> Sadece sabıka kaydı olan suçluyu tanır.</a:t>
            </a:r>
            <a:endParaRPr>
              <a:solidFill>
                <a:schemeClr val="dk1"/>
              </a:solidFill>
            </a:endParaRPr>
          </a:p>
          <a:p>
            <a:pPr indent="0" lvl="0" marL="0" rtl="0" algn="l">
              <a:spcBef>
                <a:spcPts val="0"/>
              </a:spcBef>
              <a:spcAft>
                <a:spcPts val="0"/>
              </a:spcAft>
              <a:buClr>
                <a:schemeClr val="dk1"/>
              </a:buClr>
              <a:buSzPts val="1100"/>
              <a:buFont typeface="Arial"/>
              <a:buNone/>
            </a:pPr>
            <a:r>
              <a:rPr b="1" lang="tr">
                <a:solidFill>
                  <a:schemeClr val="dk1"/>
                </a:solidFill>
              </a:rPr>
              <a:t>DGA:</a:t>
            </a:r>
            <a:r>
              <a:rPr lang="tr">
                <a:solidFill>
                  <a:schemeClr val="dk1"/>
                </a:solidFill>
              </a:rPr>
              <a:t> Yakalanmamak için sürekli kılık (adres) değiştiren saldırgan. - Domain Generation Algorithm (Alan Adı Üretme Algoritması)</a:t>
            </a:r>
            <a:endParaRPr>
              <a:solidFill>
                <a:schemeClr val="dk1"/>
              </a:solidFill>
            </a:endParaRPr>
          </a:p>
          <a:p>
            <a:pPr indent="0" lvl="0" marL="0" rtl="0" algn="l">
              <a:spcBef>
                <a:spcPts val="0"/>
              </a:spcBef>
              <a:spcAft>
                <a:spcPts val="0"/>
              </a:spcAft>
              <a:buNone/>
            </a:pPr>
            <a:r>
              <a:rPr lang="tr"/>
              <a:t>Snort ve Suricata gibi araçlar bilinen tehditleri imza veritabanlarıyla tespit edip (IDS) engellerken (IPS), saldırganlar bu güvenlik duvarlarını aşmak için DGA algoritmasıyla sürekli rastgele ve yeni domain adresleri üretir.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93e08aaf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93e08aaf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Sağdaki diyagram APT kill chain (Lockheed Martin)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93e08aaf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93e08aaf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tr">
                <a:solidFill>
                  <a:schemeClr val="dk1"/>
                </a:solidFill>
              </a:rPr>
              <a:t>C2</a:t>
            </a:r>
            <a:r>
              <a:rPr lang="tr">
                <a:solidFill>
                  <a:schemeClr val="dk1"/>
                </a:solidFill>
              </a:rPr>
              <a:t>, saldırganın bulaşmış sisteme (yani malware’e) </a:t>
            </a:r>
            <a:r>
              <a:rPr b="1" lang="tr">
                <a:solidFill>
                  <a:schemeClr val="dk1"/>
                </a:solidFill>
              </a:rPr>
              <a:t>uzaktan komut göndermesi ve makineden veri alması</a:t>
            </a:r>
            <a:r>
              <a:rPr lang="tr">
                <a:solidFill>
                  <a:schemeClr val="dk1"/>
                </a:solidFill>
              </a:rPr>
              <a:t> için kullandığı gizli haberleşme kanalıdır.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tr">
                <a:solidFill>
                  <a:schemeClr val="dk1"/>
                </a:solidFill>
              </a:rPr>
              <a:t>APT saldırılarında C2 şu amaçlarla kullanılır:</a:t>
            </a:r>
            <a:endParaRPr>
              <a:solidFill>
                <a:schemeClr val="dk1"/>
              </a:solidFill>
            </a:endParaRPr>
          </a:p>
          <a:p>
            <a:pPr indent="0" lvl="0" marL="0" rtl="0" algn="l">
              <a:lnSpc>
                <a:spcPct val="115000"/>
              </a:lnSpc>
              <a:spcBef>
                <a:spcPts val="1200"/>
              </a:spcBef>
              <a:spcAft>
                <a:spcPts val="0"/>
              </a:spcAft>
              <a:buNone/>
            </a:pPr>
            <a:r>
              <a:rPr lang="tr">
                <a:solidFill>
                  <a:schemeClr val="dk1"/>
                </a:solidFill>
              </a:rPr>
              <a:t>Malware’e komut göndermek (ör. “ekrana screenshot al”, “dosyayı dışarı sızdır”, sistem bilgisi gönder”)</a:t>
            </a:r>
            <a:endParaRPr>
              <a:solidFill>
                <a:schemeClr val="dk1"/>
              </a:solidFill>
            </a:endParaRPr>
          </a:p>
          <a:p>
            <a:pPr indent="0" lvl="0" marL="0" rtl="0" algn="l">
              <a:lnSpc>
                <a:spcPct val="115000"/>
              </a:lnSpc>
              <a:spcBef>
                <a:spcPts val="1200"/>
              </a:spcBef>
              <a:spcAft>
                <a:spcPts val="0"/>
              </a:spcAft>
              <a:buNone/>
            </a:pPr>
            <a:r>
              <a:rPr lang="tr">
                <a:solidFill>
                  <a:schemeClr val="dk1"/>
                </a:solidFill>
              </a:rPr>
              <a:t>Saldırgan ile zararlı yazılım arasında </a:t>
            </a:r>
            <a:r>
              <a:rPr b="1" lang="tr">
                <a:solidFill>
                  <a:schemeClr val="dk1"/>
                </a:solidFill>
              </a:rPr>
              <a:t>sürekli ve gizli bir bağlantı</a:t>
            </a:r>
            <a:r>
              <a:rPr lang="tr">
                <a:solidFill>
                  <a:schemeClr val="dk1"/>
                </a:solidFill>
              </a:rPr>
              <a:t> sağlamak</a:t>
            </a:r>
            <a:br>
              <a:rPr lang="tr">
                <a:solidFill>
                  <a:schemeClr val="dk1"/>
                </a:solidFill>
              </a:rPr>
            </a:br>
            <a:r>
              <a:rPr lang="tr">
                <a:solidFill>
                  <a:schemeClr val="dk1"/>
                </a:solidFill>
              </a:rPr>
              <a:t>Trafiğin normalmiş gibi görünmesini sağlamak</a:t>
            </a:r>
            <a:br>
              <a:rPr lang="tr">
                <a:solidFill>
                  <a:schemeClr val="dk1"/>
                </a:solidFill>
              </a:rPr>
            </a:br>
            <a:r>
              <a:rPr lang="tr">
                <a:solidFill>
                  <a:schemeClr val="dk1"/>
                </a:solidFill>
              </a:rPr>
              <a:t>Kurum güvenlik duvarlarını aşmaTünelleme protokolleri ile iletişimi maskelemek (DNS, HTTPS, ICMP vb.)</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93e08aaf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93e08aaf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“Bu saldırı tipinde en belirgin şey, DNS domainlerinin şişmesi. Çünkü data paket paket encode edilip taşınıyor. Ayrıca TXT kayıtları saldırganın serbest metin alanı olarak kullandığı yer. Ve yüksek sorgu frekansı genelde C2 beaconing davranışı.”</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959cd01c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959cd01c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“Zeek paket okuyup geçmez, olayları birbirine bağlar. Bağlantı süresini, DNS sorgularını, davranışı takip eder. Yani davranışsal analiz için en uygun araçlardan biri. Bu yüzden özel bir betik yazarak DNS tünelleme davranışını yakalayan bir modül geliştirdim.”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959cd01c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959cd01c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“Betik içinde önce kendi alarm tipimi tanımladım. Ardından her IP için bir sorgu sayacı tuttum. Üç eşik değerim var: domain uzunluğu, TXT kaydı kullanımı ve yüksek sorgu frekansı.”</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959cd01c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959cd01c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“Uzun domain tespiti aslında en basit ama en etkili yöntemlerden biri. Tünelleme yapabilmek için veri parçacıkları domain içinde taşınır, bu da domainin normalden çok uzun olmasına sebep olur.”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959cd01c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959cd01c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“TXT kaydı saldırganların çok sevdiği bir alan, çünkü içerik sınırlaması yok. Email SPF kayıtları hariç ciddi bir kullanım yoğunluğu yok. O yüzden tünellemede çok belirgin bir işarettir.”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959cd01c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959cd01c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“Bu artık beaconing davranışıdır. Normal bir kullanıcı 10 saniyede 100 DNS isteği göndermez. Yalnızca C2 veya malware yapar.”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959cd01c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959cd01c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a:t>“Test ortamını docker içinde kurdum. Hem izole hem de hızlı bir ortam sağlıyor. Örnek PCAP’te DNS Tunneling trafiği bulunuyordu. Zeek’i bu PCAP üzerine çalıştırdım.”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959cd01c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959cd01c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959cd01c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959cd01c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959cd01c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959cd01c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4" name="Google Shape;14;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5" name="Google Shape;15;p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2" name="Google Shape;22;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7" name="Google Shape;27;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6" name="Google Shape;36;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1" name="Google Shape;41;p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2" name="Shape 42"/>
        <p:cNvGrpSpPr/>
        <p:nvPr/>
      </p:nvGrpSpPr>
      <p:grpSpPr>
        <a:xfrm>
          <a:off x="0" y="0"/>
          <a:ext cx="0" cy="0"/>
          <a:chOff x="0" y="0"/>
          <a:chExt cx="0" cy="0"/>
        </a:xfrm>
      </p:grpSpPr>
      <p:sp>
        <p:nvSpPr>
          <p:cNvPr id="43" name="Google Shape;43;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5" name="Google Shape;45;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6" name="Google Shape;46;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1" name="Google Shape;51;p1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cxnSp>
        <p:nvCxnSpPr>
          <p:cNvPr id="53" name="Google Shape;53;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4" name="Google Shape;5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5" name="Google Shape;5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11"/>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tr"/>
              <a:t>‹#›</a:t>
            </a:fld>
            <a:endParaRPr/>
          </a:p>
        </p:txBody>
      </p:sp>
      <p:sp>
        <p:nvSpPr>
          <p:cNvPr id="9" name="Google Shape;9;p1"/>
          <p:cNvSpPr txBox="1"/>
          <p:nvPr/>
        </p:nvSpPr>
        <p:spPr>
          <a:xfrm>
            <a:off x="0" y="4882211"/>
            <a:ext cx="8832300" cy="2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700">
                <a:solidFill>
                  <a:schemeClr val="dk2"/>
                </a:solidFill>
                <a:latin typeface="Source Code Pro"/>
                <a:ea typeface="Source Code Pro"/>
                <a:cs typeface="Source Code Pro"/>
                <a:sym typeface="Source Code Pro"/>
              </a:rPr>
              <a:t>26/11/2025 | 20259257001 Çağatay Üresin | Sivas Cumhuriyet Üniversitesi | Fen Bilimleri Enstitüsü | Bilgisayar Mühendisliği ABD | Ağ Güvenliği ve Analizi</a:t>
            </a:r>
            <a:endParaRPr sz="700">
              <a:solidFill>
                <a:schemeClr val="dk2"/>
              </a:solidFill>
              <a:latin typeface="Source Code Pro"/>
              <a:ea typeface="Source Code Pro"/>
              <a:cs typeface="Source Code Pro"/>
              <a:sym typeface="Source Code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tr"/>
              <a:t>Gelişmiş Kalıcı Tehdit (APT) Simülasyonu için Özel Bro/Zeek Betiği Geliştirme</a:t>
            </a:r>
            <a:endParaRPr/>
          </a:p>
        </p:txBody>
      </p:sp>
      <p:sp>
        <p:nvSpPr>
          <p:cNvPr id="64" name="Google Shape;64;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lnSpcReduction="10000"/>
          </a:bodyPr>
          <a:lstStyle/>
          <a:p>
            <a:pPr indent="0" lvl="0" marL="0" rtl="0" algn="ctr">
              <a:spcBef>
                <a:spcPts val="0"/>
              </a:spcBef>
              <a:spcAft>
                <a:spcPts val="0"/>
              </a:spcAft>
              <a:buNone/>
            </a:pPr>
            <a:r>
              <a:rPr lang="tr"/>
              <a:t>20259257001</a:t>
            </a:r>
            <a:endParaRPr/>
          </a:p>
          <a:p>
            <a:pPr indent="0" lvl="0" marL="0" rtl="0" algn="ctr">
              <a:spcBef>
                <a:spcPts val="0"/>
              </a:spcBef>
              <a:spcAft>
                <a:spcPts val="0"/>
              </a:spcAft>
              <a:buNone/>
            </a:pPr>
            <a:r>
              <a:rPr lang="tr"/>
              <a:t>Çağatay ÜRESİN</a:t>
            </a:r>
            <a:endParaRPr/>
          </a:p>
        </p:txBody>
      </p:sp>
      <p:sp>
        <p:nvSpPr>
          <p:cNvPr id="65" name="Google Shape;65;p1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00" y="37250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tr"/>
              <a:t>Gelişmiş Kalıcı Tehdit (APT) Simülasyonu İçin Özel Zeek Betiği Geliştirme</a:t>
            </a:r>
            <a:endParaRPr/>
          </a:p>
        </p:txBody>
      </p:sp>
      <p:sp>
        <p:nvSpPr>
          <p:cNvPr id="71" name="Google Shape;71;p14"/>
          <p:cNvSpPr txBox="1"/>
          <p:nvPr>
            <p:ph idx="1" type="body"/>
          </p:nvPr>
        </p:nvSpPr>
        <p:spPr>
          <a:xfrm>
            <a:off x="311700" y="1468825"/>
            <a:ext cx="5598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Bu çalışma, standart imza tabanlı güvenlik sistemlerinin kaçırabileceği modern saldırı tekniklerini davranışsal analiz ile tespit etmeyi amaçlamaktadır. Çalışmada DNS Tunneling saldırısına yönelik özel bir Zeek betiği geliştirilmiş, örnek PCAP dosyaları üzerinde test edilmiştir.</a:t>
            </a:r>
            <a:endParaRPr/>
          </a:p>
        </p:txBody>
      </p:sp>
      <p:sp>
        <p:nvSpPr>
          <p:cNvPr id="72" name="Google Shape;72;p1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73" name="Google Shape;73;p14" title="zeek-logo-without-text.png"/>
          <p:cNvPicPr preferRelativeResize="0"/>
          <p:nvPr/>
        </p:nvPicPr>
        <p:blipFill>
          <a:blip r:embed="rId3">
            <a:alphaModFix/>
          </a:blip>
          <a:stretch>
            <a:fillRect/>
          </a:stretch>
        </p:blipFill>
        <p:spPr>
          <a:xfrm>
            <a:off x="6339125" y="1825038"/>
            <a:ext cx="2000250" cy="1914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APT – Advanced Persistent Threat</a:t>
            </a:r>
            <a:endParaRPr/>
          </a:p>
        </p:txBody>
      </p:sp>
      <p:sp>
        <p:nvSpPr>
          <p:cNvPr id="79" name="Google Shape;79;p15"/>
          <p:cNvSpPr txBox="1"/>
          <p:nvPr>
            <p:ph idx="1" type="body"/>
          </p:nvPr>
        </p:nvSpPr>
        <p:spPr>
          <a:xfrm>
            <a:off x="311700" y="1468825"/>
            <a:ext cx="51777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APT saldırıları uzun süreli, sessiz ve hedef odaklıdır.</a:t>
            </a:r>
            <a:endParaRPr/>
          </a:p>
          <a:p>
            <a:pPr indent="-342900" lvl="0" marL="457200" rtl="0" algn="l">
              <a:spcBef>
                <a:spcPts val="0"/>
              </a:spcBef>
              <a:spcAft>
                <a:spcPts val="0"/>
              </a:spcAft>
              <a:buSzPts val="1800"/>
              <a:buChar char="●"/>
            </a:pPr>
            <a:r>
              <a:rPr lang="tr"/>
              <a:t>Normal trafik gibi görünmek için düşük iz bırakır.</a:t>
            </a:r>
            <a:endParaRPr/>
          </a:p>
          <a:p>
            <a:pPr indent="-342900" lvl="0" marL="457200" rtl="0" algn="l">
              <a:spcBef>
                <a:spcPts val="0"/>
              </a:spcBef>
              <a:spcAft>
                <a:spcPts val="0"/>
              </a:spcAft>
              <a:buSzPts val="1800"/>
              <a:buChar char="●"/>
            </a:pPr>
            <a:r>
              <a:rPr lang="tr"/>
              <a:t>İmza tabanlı IDS sistemlerinden kaçmak için davranış manipülasyonu kullanır.</a:t>
            </a:r>
            <a:endParaRPr/>
          </a:p>
          <a:p>
            <a:pPr indent="-342900" lvl="0" marL="457200" rtl="0" algn="l">
              <a:spcBef>
                <a:spcPts val="0"/>
              </a:spcBef>
              <a:spcAft>
                <a:spcPts val="0"/>
              </a:spcAft>
              <a:buSzPts val="1800"/>
              <a:buChar char="●"/>
            </a:pPr>
            <a:r>
              <a:rPr lang="tr"/>
              <a:t>Veri sızdırma ve komuta-kontrol (C2) trafiği genellikle gizlenir.</a:t>
            </a:r>
            <a:endParaRPr/>
          </a:p>
        </p:txBody>
      </p:sp>
      <p:sp>
        <p:nvSpPr>
          <p:cNvPr id="80" name="Google Shape;80;p1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81" name="Google Shape;81;p15" title="THE-CYBER-KILL-CHAIN-body.png.pc-adaptive.full.medium.png"/>
          <p:cNvPicPr preferRelativeResize="0"/>
          <p:nvPr/>
        </p:nvPicPr>
        <p:blipFill>
          <a:blip r:embed="rId3">
            <a:alphaModFix/>
          </a:blip>
          <a:stretch>
            <a:fillRect/>
          </a:stretch>
        </p:blipFill>
        <p:spPr>
          <a:xfrm>
            <a:off x="5413041" y="372500"/>
            <a:ext cx="3730960" cy="43494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DNS Tunneling Nedir?</a:t>
            </a:r>
            <a:endParaRPr/>
          </a:p>
        </p:txBody>
      </p:sp>
      <p:sp>
        <p:nvSpPr>
          <p:cNvPr id="87" name="Google Shape;87;p16"/>
          <p:cNvSpPr txBox="1"/>
          <p:nvPr>
            <p:ph idx="1" type="body"/>
          </p:nvPr>
        </p:nvSpPr>
        <p:spPr>
          <a:xfrm>
            <a:off x="311700" y="1433700"/>
            <a:ext cx="8520600" cy="2085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tr"/>
              <a:t>DNS protokolü çoğu kurumda serbesttir, bu nedenle kötüye kullanıma açıktır.</a:t>
            </a:r>
            <a:endParaRPr/>
          </a:p>
          <a:p>
            <a:pPr indent="-342900" lvl="0" marL="457200" rtl="0" algn="l">
              <a:spcBef>
                <a:spcPts val="0"/>
              </a:spcBef>
              <a:spcAft>
                <a:spcPts val="0"/>
              </a:spcAft>
              <a:buSzPts val="1800"/>
              <a:buChar char="●"/>
            </a:pPr>
            <a:r>
              <a:rPr lang="tr"/>
              <a:t>Saldırganlar veriyi DNS alt alanlarına encode ederek dışarı çıkarabilir.</a:t>
            </a:r>
            <a:endParaRPr/>
          </a:p>
          <a:p>
            <a:pPr indent="-342900" lvl="0" marL="457200" rtl="0" algn="l">
              <a:spcBef>
                <a:spcPts val="0"/>
              </a:spcBef>
              <a:spcAft>
                <a:spcPts val="0"/>
              </a:spcAft>
              <a:buSzPts val="1800"/>
              <a:buChar char="●"/>
            </a:pPr>
            <a:r>
              <a:rPr lang="tr"/>
              <a:t>Genellikle TXT kayıtları veya uzun domain adları kullanılır.</a:t>
            </a:r>
            <a:endParaRPr/>
          </a:p>
          <a:p>
            <a:pPr indent="-342900" lvl="0" marL="457200" rtl="0" algn="l">
              <a:spcBef>
                <a:spcPts val="0"/>
              </a:spcBef>
              <a:spcAft>
                <a:spcPts val="0"/>
              </a:spcAft>
              <a:buSzPts val="1800"/>
              <a:buChar char="●"/>
            </a:pPr>
            <a:r>
              <a:rPr lang="tr"/>
              <a:t>C2 iletişimini gizlemek için etkili bir yöntemdir.</a:t>
            </a:r>
            <a:endParaRPr/>
          </a:p>
        </p:txBody>
      </p:sp>
      <p:sp>
        <p:nvSpPr>
          <p:cNvPr id="88" name="Google Shape;88;p1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89" name="Google Shape;89;p16"/>
          <p:cNvPicPr preferRelativeResize="0"/>
          <p:nvPr/>
        </p:nvPicPr>
        <p:blipFill>
          <a:blip r:embed="rId3">
            <a:alphaModFix/>
          </a:blip>
          <a:stretch>
            <a:fillRect/>
          </a:stretch>
        </p:blipFill>
        <p:spPr>
          <a:xfrm>
            <a:off x="1135487" y="3446700"/>
            <a:ext cx="6873025" cy="1216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Davranışsal İpuçları</a:t>
            </a:r>
            <a:endParaRPr/>
          </a:p>
        </p:txBody>
      </p:sp>
      <p:sp>
        <p:nvSpPr>
          <p:cNvPr id="95" name="Google Shape;95;p17"/>
          <p:cNvSpPr txBox="1"/>
          <p:nvPr>
            <p:ph idx="1" type="body"/>
          </p:nvPr>
        </p:nvSpPr>
        <p:spPr>
          <a:xfrm>
            <a:off x="311700" y="1468825"/>
            <a:ext cx="8520600" cy="23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a:t>DNS Tunneling sırasında görülen tipik anomaliler:</a:t>
            </a:r>
            <a:endParaRPr b="1"/>
          </a:p>
          <a:p>
            <a:pPr indent="-342900" lvl="0" marL="457200" rtl="0" algn="l">
              <a:spcBef>
                <a:spcPts val="1200"/>
              </a:spcBef>
              <a:spcAft>
                <a:spcPts val="0"/>
              </a:spcAft>
              <a:buSzPts val="1800"/>
              <a:buChar char="●"/>
            </a:pPr>
            <a:r>
              <a:rPr lang="tr"/>
              <a:t>Normalden çok daha uzun domain isimleri</a:t>
            </a:r>
            <a:endParaRPr/>
          </a:p>
          <a:p>
            <a:pPr indent="-342900" lvl="0" marL="457200" rtl="0" algn="l">
              <a:spcBef>
                <a:spcPts val="0"/>
              </a:spcBef>
              <a:spcAft>
                <a:spcPts val="0"/>
              </a:spcAft>
              <a:buSzPts val="1800"/>
              <a:buChar char="●"/>
            </a:pPr>
            <a:r>
              <a:rPr lang="tr"/>
              <a:t>TXT kayıtlarına aşırı yüklenme</a:t>
            </a:r>
            <a:endParaRPr/>
          </a:p>
          <a:p>
            <a:pPr indent="-342900" lvl="0" marL="457200" rtl="0" algn="l">
              <a:spcBef>
                <a:spcPts val="0"/>
              </a:spcBef>
              <a:spcAft>
                <a:spcPts val="0"/>
              </a:spcAft>
              <a:buSzPts val="1800"/>
              <a:buChar char="●"/>
            </a:pPr>
            <a:r>
              <a:rPr lang="tr"/>
              <a:t>Aynı kaynaktan kısa sürede çok sayıda DNS isteği</a:t>
            </a:r>
            <a:endParaRPr/>
          </a:p>
          <a:p>
            <a:pPr indent="-342900" lvl="0" marL="457200" rtl="0" algn="l">
              <a:spcBef>
                <a:spcPts val="0"/>
              </a:spcBef>
              <a:spcAft>
                <a:spcPts val="0"/>
              </a:spcAft>
              <a:buSzPts val="1800"/>
              <a:buChar char="●"/>
            </a:pPr>
            <a:r>
              <a:rPr lang="tr"/>
              <a:t>Tekrarlayan alt domain varyasyonları (ör. xxxx.abcd.evil.com)</a:t>
            </a:r>
            <a:endParaRPr/>
          </a:p>
        </p:txBody>
      </p:sp>
      <p:sp>
        <p:nvSpPr>
          <p:cNvPr id="96" name="Google Shape;96;p1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97" name="Google Shape;97;p17"/>
          <p:cNvPicPr preferRelativeResize="0"/>
          <p:nvPr/>
        </p:nvPicPr>
        <p:blipFill>
          <a:blip r:embed="rId3">
            <a:alphaModFix/>
          </a:blip>
          <a:stretch>
            <a:fillRect/>
          </a:stretch>
        </p:blipFill>
        <p:spPr>
          <a:xfrm>
            <a:off x="363750" y="3686700"/>
            <a:ext cx="8416500" cy="855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Neden Zeek?</a:t>
            </a:r>
            <a:endParaRPr/>
          </a:p>
        </p:txBody>
      </p:sp>
      <p:sp>
        <p:nvSpPr>
          <p:cNvPr id="103" name="Google Shape;103;p18"/>
          <p:cNvSpPr txBox="1"/>
          <p:nvPr>
            <p:ph idx="1" type="body"/>
          </p:nvPr>
        </p:nvSpPr>
        <p:spPr>
          <a:xfrm>
            <a:off x="311700" y="1468825"/>
            <a:ext cx="58701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Paket bazlı değil olay bazlı analiz yapar</a:t>
            </a:r>
            <a:endParaRPr/>
          </a:p>
          <a:p>
            <a:pPr indent="-342900" lvl="0" marL="457200" rtl="0" algn="l">
              <a:spcBef>
                <a:spcPts val="0"/>
              </a:spcBef>
              <a:spcAft>
                <a:spcPts val="0"/>
              </a:spcAft>
              <a:buSzPts val="1800"/>
              <a:buChar char="●"/>
            </a:pPr>
            <a:r>
              <a:rPr lang="tr"/>
              <a:t>Davranış tespiti için uygundur</a:t>
            </a:r>
            <a:endParaRPr/>
          </a:p>
          <a:p>
            <a:pPr indent="-342900" lvl="0" marL="457200" rtl="0" algn="l">
              <a:spcBef>
                <a:spcPts val="0"/>
              </a:spcBef>
              <a:spcAft>
                <a:spcPts val="0"/>
              </a:spcAft>
              <a:buSzPts val="1800"/>
              <a:buChar char="●"/>
            </a:pPr>
            <a:r>
              <a:rPr lang="tr"/>
              <a:t>Betikle genişletilebilir</a:t>
            </a:r>
            <a:endParaRPr/>
          </a:p>
          <a:p>
            <a:pPr indent="-342900" lvl="0" marL="457200" rtl="0" algn="l">
              <a:spcBef>
                <a:spcPts val="0"/>
              </a:spcBef>
              <a:spcAft>
                <a:spcPts val="0"/>
              </a:spcAft>
              <a:buSzPts val="1800"/>
              <a:buChar char="●"/>
            </a:pPr>
            <a:r>
              <a:rPr lang="tr"/>
              <a:t>Security Onion içinde yerleşiktir</a:t>
            </a:r>
            <a:endParaRPr/>
          </a:p>
          <a:p>
            <a:pPr indent="-342900" lvl="0" marL="457200" rtl="0" algn="l">
              <a:spcBef>
                <a:spcPts val="0"/>
              </a:spcBef>
              <a:spcAft>
                <a:spcPts val="0"/>
              </a:spcAft>
              <a:buSzPts val="1800"/>
              <a:buChar char="●"/>
            </a:pPr>
            <a:r>
              <a:rPr lang="tr"/>
              <a:t>Anomali ve bağlantı korelasyonunda çok güçlüdür</a:t>
            </a:r>
            <a:endParaRPr/>
          </a:p>
        </p:txBody>
      </p:sp>
      <p:sp>
        <p:nvSpPr>
          <p:cNvPr id="104" name="Google Shape;104;p1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05" name="Google Shape;105;p18"/>
          <p:cNvPicPr preferRelativeResize="0"/>
          <p:nvPr/>
        </p:nvPicPr>
        <p:blipFill>
          <a:blip r:embed="rId3">
            <a:alphaModFix/>
          </a:blip>
          <a:stretch>
            <a:fillRect/>
          </a:stretch>
        </p:blipFill>
        <p:spPr>
          <a:xfrm>
            <a:off x="6312775" y="122125"/>
            <a:ext cx="2375550" cy="45410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Betik Mimarisi</a:t>
            </a:r>
            <a:endParaRPr/>
          </a:p>
        </p:txBody>
      </p:sp>
      <p:sp>
        <p:nvSpPr>
          <p:cNvPr id="111" name="Google Shape;111;p19"/>
          <p:cNvSpPr txBox="1"/>
          <p:nvPr>
            <p:ph idx="1" type="body"/>
          </p:nvPr>
        </p:nvSpPr>
        <p:spPr>
          <a:xfrm>
            <a:off x="311700" y="1468825"/>
            <a:ext cx="3155400" cy="3099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tr"/>
              <a:t>Modül adı:</a:t>
            </a:r>
            <a:r>
              <a:rPr lang="tr"/>
              <a:t> DNS_Tunnel</a:t>
            </a:r>
            <a:endParaRPr/>
          </a:p>
          <a:p>
            <a:pPr indent="0" lvl="0" marL="0" rtl="0" algn="l">
              <a:spcBef>
                <a:spcPts val="1200"/>
              </a:spcBef>
              <a:spcAft>
                <a:spcPts val="0"/>
              </a:spcAft>
              <a:buNone/>
            </a:pPr>
            <a:r>
              <a:rPr i="1" lang="tr" u="sng"/>
              <a:t>dns_request</a:t>
            </a:r>
            <a:r>
              <a:rPr lang="tr"/>
              <a:t> event’i dinleniyor</a:t>
            </a:r>
            <a:endParaRPr/>
          </a:p>
          <a:p>
            <a:pPr indent="0" lvl="0" marL="0" rtl="0" algn="l">
              <a:spcBef>
                <a:spcPts val="1200"/>
              </a:spcBef>
              <a:spcAft>
                <a:spcPts val="0"/>
              </a:spcAft>
              <a:buNone/>
            </a:pPr>
            <a:r>
              <a:rPr lang="tr"/>
              <a:t>3 ana heuristik kontrol</a:t>
            </a:r>
            <a:endParaRPr/>
          </a:p>
          <a:p>
            <a:pPr indent="0" lvl="0" marL="0" rtl="0" algn="l">
              <a:spcBef>
                <a:spcPts val="1200"/>
              </a:spcBef>
              <a:spcAft>
                <a:spcPts val="0"/>
              </a:spcAft>
              <a:buNone/>
            </a:pPr>
            <a:r>
              <a:rPr b="1" lang="tr"/>
              <a:t>Özel Notice türü:</a:t>
            </a:r>
            <a:r>
              <a:rPr lang="tr"/>
              <a:t> DNS_TUNNELING_DETECTED</a:t>
            </a:r>
            <a:endParaRPr/>
          </a:p>
          <a:p>
            <a:pPr indent="0" lvl="0" marL="0" rtl="0" algn="l">
              <a:spcBef>
                <a:spcPts val="1200"/>
              </a:spcBef>
              <a:spcAft>
                <a:spcPts val="1200"/>
              </a:spcAft>
              <a:buNone/>
            </a:pPr>
            <a:r>
              <a:rPr lang="tr"/>
              <a:t>Betik logs/notice.log içine alarm üretiyor</a:t>
            </a:r>
            <a:endParaRPr/>
          </a:p>
        </p:txBody>
      </p:sp>
      <p:sp>
        <p:nvSpPr>
          <p:cNvPr id="112" name="Google Shape;112;p1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13" name="Google Shape;113;p19"/>
          <p:cNvPicPr preferRelativeResize="0"/>
          <p:nvPr/>
        </p:nvPicPr>
        <p:blipFill>
          <a:blip r:embed="rId3">
            <a:alphaModFix/>
          </a:blip>
          <a:stretch>
            <a:fillRect/>
          </a:stretch>
        </p:blipFill>
        <p:spPr>
          <a:xfrm>
            <a:off x="3467100" y="1663275"/>
            <a:ext cx="5443850" cy="271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Heuristik 1: Uzun Domain Tespiti</a:t>
            </a:r>
            <a:endParaRPr/>
          </a:p>
        </p:txBody>
      </p:sp>
      <p:sp>
        <p:nvSpPr>
          <p:cNvPr id="119" name="Google Shape;119;p20"/>
          <p:cNvSpPr txBox="1"/>
          <p:nvPr>
            <p:ph idx="1" type="body"/>
          </p:nvPr>
        </p:nvSpPr>
        <p:spPr>
          <a:xfrm>
            <a:off x="311700" y="1468825"/>
            <a:ext cx="8289300" cy="1804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tr"/>
              <a:t>DNS tünelleme sırasında alt domainler encode edilmiş veri taşır. Bu yüzden:</a:t>
            </a:r>
            <a:endParaRPr/>
          </a:p>
          <a:p>
            <a:pPr indent="-298450" lvl="0" marL="457200" rtl="0" algn="l">
              <a:spcBef>
                <a:spcPts val="1200"/>
              </a:spcBef>
              <a:spcAft>
                <a:spcPts val="0"/>
              </a:spcAft>
              <a:buClr>
                <a:srgbClr val="000000"/>
              </a:buClr>
              <a:buSzPts val="1100"/>
              <a:buFont typeface="Arial"/>
              <a:buChar char="●"/>
            </a:pPr>
            <a:r>
              <a:rPr lang="tr"/>
              <a:t>Domain uzunluğu genelde 50+ karakter</a:t>
            </a:r>
            <a:endParaRPr/>
          </a:p>
          <a:p>
            <a:pPr indent="-298450" lvl="0" marL="457200" rtl="0" algn="l">
              <a:spcBef>
                <a:spcPts val="0"/>
              </a:spcBef>
              <a:spcAft>
                <a:spcPts val="0"/>
              </a:spcAft>
              <a:buClr>
                <a:srgbClr val="000000"/>
              </a:buClr>
              <a:buSzPts val="1100"/>
              <a:buFont typeface="Arial"/>
              <a:buChar char="●"/>
            </a:pPr>
            <a:r>
              <a:rPr lang="tr"/>
              <a:t>Normal DNS trafiğinde çok nadir görülür</a:t>
            </a:r>
            <a:endParaRPr/>
          </a:p>
          <a:p>
            <a:pPr indent="-298450" lvl="0" marL="457200" rtl="0" algn="l">
              <a:spcBef>
                <a:spcPts val="0"/>
              </a:spcBef>
              <a:spcAft>
                <a:spcPts val="0"/>
              </a:spcAft>
              <a:buClr>
                <a:srgbClr val="000000"/>
              </a:buClr>
              <a:buSzPts val="1100"/>
              <a:buFont typeface="Arial"/>
              <a:buChar char="●"/>
            </a:pPr>
            <a:r>
              <a:rPr lang="tr"/>
              <a:t>Bu davranış tek başına uyarı sebebidir</a:t>
            </a:r>
            <a:endParaRPr/>
          </a:p>
        </p:txBody>
      </p:sp>
      <p:sp>
        <p:nvSpPr>
          <p:cNvPr id="120" name="Google Shape;120;p2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21" name="Google Shape;121;p20"/>
          <p:cNvPicPr preferRelativeResize="0"/>
          <p:nvPr/>
        </p:nvPicPr>
        <p:blipFill>
          <a:blip r:embed="rId3">
            <a:alphaModFix/>
          </a:blip>
          <a:stretch>
            <a:fillRect/>
          </a:stretch>
        </p:blipFill>
        <p:spPr>
          <a:xfrm>
            <a:off x="1484550" y="3367825"/>
            <a:ext cx="5943600" cy="1295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Heuristik 2: TXT Query Tespiti</a:t>
            </a:r>
            <a:endParaRPr/>
          </a:p>
        </p:txBody>
      </p:sp>
      <p:sp>
        <p:nvSpPr>
          <p:cNvPr id="127" name="Google Shape;127;p21"/>
          <p:cNvSpPr txBox="1"/>
          <p:nvPr>
            <p:ph idx="1" type="body"/>
          </p:nvPr>
        </p:nvSpPr>
        <p:spPr>
          <a:xfrm>
            <a:off x="311700" y="1468825"/>
            <a:ext cx="8520600" cy="136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TXT kaydı DNS tünellemede en sık kullanılan alan</a:t>
            </a:r>
            <a:endParaRPr/>
          </a:p>
          <a:p>
            <a:pPr indent="-342900" lvl="0" marL="457200" rtl="0" algn="l">
              <a:spcBef>
                <a:spcPts val="0"/>
              </a:spcBef>
              <a:spcAft>
                <a:spcPts val="0"/>
              </a:spcAft>
              <a:buSzPts val="1800"/>
              <a:buChar char="●"/>
            </a:pPr>
            <a:r>
              <a:rPr lang="tr"/>
              <a:t>Serbest metin içerdiğ</a:t>
            </a:r>
            <a:r>
              <a:rPr lang="tr"/>
              <a:t>i</a:t>
            </a:r>
            <a:r>
              <a:rPr lang="tr"/>
              <a:t> için manipüle edilmeye çok açık</a:t>
            </a:r>
            <a:endParaRPr/>
          </a:p>
          <a:p>
            <a:pPr indent="-342900" lvl="0" marL="457200" rtl="0" algn="l">
              <a:spcBef>
                <a:spcPts val="0"/>
              </a:spcBef>
              <a:spcAft>
                <a:spcPts val="0"/>
              </a:spcAft>
              <a:buSzPts val="1800"/>
              <a:buChar char="●"/>
            </a:pPr>
            <a:r>
              <a:rPr lang="tr"/>
              <a:t>Zararsız kullanım oranı düşük</a:t>
            </a:r>
            <a:endParaRPr/>
          </a:p>
        </p:txBody>
      </p:sp>
      <p:sp>
        <p:nvSpPr>
          <p:cNvPr id="128" name="Google Shape;128;p21"/>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29" name="Google Shape;129;p21"/>
          <p:cNvPicPr preferRelativeResize="0"/>
          <p:nvPr/>
        </p:nvPicPr>
        <p:blipFill>
          <a:blip r:embed="rId3">
            <a:alphaModFix/>
          </a:blip>
          <a:stretch>
            <a:fillRect/>
          </a:stretch>
        </p:blipFill>
        <p:spPr>
          <a:xfrm>
            <a:off x="1638300" y="3133600"/>
            <a:ext cx="5867400" cy="1266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Heuristik 3: Yüksek DNS Sorgu Oranı</a:t>
            </a:r>
            <a:endParaRPr/>
          </a:p>
        </p:txBody>
      </p:sp>
      <p:sp>
        <p:nvSpPr>
          <p:cNvPr id="135" name="Google Shape;135;p22"/>
          <p:cNvSpPr txBox="1"/>
          <p:nvPr>
            <p:ph idx="1" type="body"/>
          </p:nvPr>
        </p:nvSpPr>
        <p:spPr>
          <a:xfrm>
            <a:off x="311700" y="1468825"/>
            <a:ext cx="8520600" cy="12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tr"/>
              <a:t>C2 tünelleme trafiğinde sorgu frekansı çok yüksektir</a:t>
            </a:r>
            <a:endParaRPr/>
          </a:p>
          <a:p>
            <a:pPr indent="-342900" lvl="0" marL="457200" rtl="0" algn="l">
              <a:spcBef>
                <a:spcPts val="0"/>
              </a:spcBef>
              <a:spcAft>
                <a:spcPts val="0"/>
              </a:spcAft>
              <a:buSzPts val="1800"/>
              <a:buChar char="●"/>
            </a:pPr>
            <a:r>
              <a:rPr lang="tr"/>
              <a:t>10 saniyede 100’den fazla DNS isteği → anormal</a:t>
            </a:r>
            <a:endParaRPr/>
          </a:p>
          <a:p>
            <a:pPr indent="-342900" lvl="0" marL="457200" rtl="0" algn="l">
              <a:spcBef>
                <a:spcPts val="0"/>
              </a:spcBef>
              <a:spcAft>
                <a:spcPts val="0"/>
              </a:spcAft>
              <a:buSzPts val="1800"/>
              <a:buChar char="●"/>
            </a:pPr>
            <a:r>
              <a:rPr lang="tr"/>
              <a:t>Zeek sorguları sayaç ile izler</a:t>
            </a:r>
            <a:endParaRPr/>
          </a:p>
        </p:txBody>
      </p:sp>
      <p:sp>
        <p:nvSpPr>
          <p:cNvPr id="136" name="Google Shape;136;p2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37" name="Google Shape;137;p22"/>
          <p:cNvPicPr preferRelativeResize="0"/>
          <p:nvPr/>
        </p:nvPicPr>
        <p:blipFill>
          <a:blip r:embed="rId3">
            <a:alphaModFix/>
          </a:blip>
          <a:stretch>
            <a:fillRect/>
          </a:stretch>
        </p:blipFill>
        <p:spPr>
          <a:xfrm>
            <a:off x="1504950" y="2829025"/>
            <a:ext cx="6038850" cy="1638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Test Ortamı</a:t>
            </a:r>
            <a:endParaRPr/>
          </a:p>
        </p:txBody>
      </p:sp>
      <p:sp>
        <p:nvSpPr>
          <p:cNvPr id="143" name="Google Shape;143;p23"/>
          <p:cNvSpPr txBox="1"/>
          <p:nvPr>
            <p:ph idx="1" type="body"/>
          </p:nvPr>
        </p:nvSpPr>
        <p:spPr>
          <a:xfrm>
            <a:off x="311700" y="1468825"/>
            <a:ext cx="4403100" cy="2265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tr"/>
              <a:t>Zeek Docker konteyner içinde çalıştırıldı</a:t>
            </a:r>
            <a:endParaRPr/>
          </a:p>
          <a:p>
            <a:pPr indent="0" lvl="0" marL="0" rtl="0" algn="l">
              <a:spcBef>
                <a:spcPts val="1200"/>
              </a:spcBef>
              <a:spcAft>
                <a:spcPts val="0"/>
              </a:spcAft>
              <a:buNone/>
            </a:pPr>
            <a:r>
              <a:rPr lang="tr"/>
              <a:t>Test için DNS Tunneling içeren bir PCAP kullanıldı</a:t>
            </a:r>
            <a:endParaRPr/>
          </a:p>
          <a:p>
            <a:pPr indent="0" lvl="0" marL="0" rtl="0" algn="l">
              <a:spcBef>
                <a:spcPts val="1200"/>
              </a:spcBef>
              <a:spcAft>
                <a:spcPts val="0"/>
              </a:spcAft>
              <a:buNone/>
            </a:pPr>
            <a:r>
              <a:rPr lang="tr"/>
              <a:t>PCAP Source: https://www.activecountermeasures.com/malware-of-the-day-dnscat2-dns-tunneling/</a:t>
            </a:r>
            <a:endParaRPr/>
          </a:p>
          <a:p>
            <a:pPr indent="0" lvl="0" marL="0" rtl="0" algn="l">
              <a:spcBef>
                <a:spcPts val="1200"/>
              </a:spcBef>
              <a:spcAft>
                <a:spcPts val="1200"/>
              </a:spcAft>
              <a:buNone/>
            </a:pPr>
            <a:r>
              <a:rPr lang="tr"/>
              <a:t>Komut:</a:t>
            </a:r>
            <a:endParaRPr/>
          </a:p>
        </p:txBody>
      </p:sp>
      <p:sp>
        <p:nvSpPr>
          <p:cNvPr id="144" name="Google Shape;144;p2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45" name="Google Shape;145;p23"/>
          <p:cNvPicPr preferRelativeResize="0"/>
          <p:nvPr/>
        </p:nvPicPr>
        <p:blipFill>
          <a:blip r:embed="rId3">
            <a:alphaModFix/>
          </a:blip>
          <a:stretch>
            <a:fillRect/>
          </a:stretch>
        </p:blipFill>
        <p:spPr>
          <a:xfrm>
            <a:off x="5210175" y="1640013"/>
            <a:ext cx="3733825" cy="2489200"/>
          </a:xfrm>
          <a:prstGeom prst="rect">
            <a:avLst/>
          </a:prstGeom>
          <a:noFill/>
          <a:ln>
            <a:noFill/>
          </a:ln>
        </p:spPr>
      </p:pic>
      <p:pic>
        <p:nvPicPr>
          <p:cNvPr id="146" name="Google Shape;146;p23"/>
          <p:cNvPicPr preferRelativeResize="0"/>
          <p:nvPr/>
        </p:nvPicPr>
        <p:blipFill>
          <a:blip r:embed="rId4">
            <a:alphaModFix/>
          </a:blip>
          <a:stretch>
            <a:fillRect/>
          </a:stretch>
        </p:blipFill>
        <p:spPr>
          <a:xfrm>
            <a:off x="387900" y="3534950"/>
            <a:ext cx="4736550" cy="5930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Elde Edilen Sonuçlar</a:t>
            </a:r>
            <a:endParaRPr/>
          </a:p>
        </p:txBody>
      </p:sp>
      <p:sp>
        <p:nvSpPr>
          <p:cNvPr id="152" name="Google Shape;152;p24"/>
          <p:cNvSpPr txBox="1"/>
          <p:nvPr>
            <p:ph idx="1" type="body"/>
          </p:nvPr>
        </p:nvSpPr>
        <p:spPr>
          <a:xfrm>
            <a:off x="311700" y="1468825"/>
            <a:ext cx="8520600" cy="47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t>3 heuristik de başarılı şekilde tespit yaptı</a:t>
            </a:r>
            <a:endParaRPr/>
          </a:p>
        </p:txBody>
      </p:sp>
      <p:sp>
        <p:nvSpPr>
          <p:cNvPr id="153" name="Google Shape;153;p2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pic>
        <p:nvPicPr>
          <p:cNvPr id="154" name="Google Shape;154;p24"/>
          <p:cNvPicPr preferRelativeResize="0"/>
          <p:nvPr/>
        </p:nvPicPr>
        <p:blipFill>
          <a:blip r:embed="rId3">
            <a:alphaModFix/>
          </a:blip>
          <a:stretch>
            <a:fillRect/>
          </a:stretch>
        </p:blipFill>
        <p:spPr>
          <a:xfrm>
            <a:off x="0" y="3774955"/>
            <a:ext cx="9143999" cy="681789"/>
          </a:xfrm>
          <a:prstGeom prst="rect">
            <a:avLst/>
          </a:prstGeom>
          <a:noFill/>
          <a:ln>
            <a:noFill/>
          </a:ln>
        </p:spPr>
      </p:pic>
      <p:pic>
        <p:nvPicPr>
          <p:cNvPr id="155" name="Google Shape;155;p24"/>
          <p:cNvPicPr preferRelativeResize="0"/>
          <p:nvPr/>
        </p:nvPicPr>
        <p:blipFill>
          <a:blip r:embed="rId4">
            <a:alphaModFix/>
          </a:blip>
          <a:stretch>
            <a:fillRect/>
          </a:stretch>
        </p:blipFill>
        <p:spPr>
          <a:xfrm>
            <a:off x="0" y="2016567"/>
            <a:ext cx="9144001" cy="15050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Sonuç ve Gelecek Çalışmalar</a:t>
            </a:r>
            <a:endParaRPr/>
          </a:p>
        </p:txBody>
      </p:sp>
      <p:sp>
        <p:nvSpPr>
          <p:cNvPr id="161" name="Google Shape;161;p25"/>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tr"/>
              <a:t>Bu çalışma ile:</a:t>
            </a:r>
            <a:endParaRPr/>
          </a:p>
          <a:p>
            <a:pPr indent="-298450" lvl="0" marL="457200" rtl="0" algn="l">
              <a:spcBef>
                <a:spcPts val="1200"/>
              </a:spcBef>
              <a:spcAft>
                <a:spcPts val="0"/>
              </a:spcAft>
              <a:buClr>
                <a:srgbClr val="000000"/>
              </a:buClr>
              <a:buSzPts val="1100"/>
              <a:buFont typeface="Arial"/>
              <a:buChar char="●"/>
            </a:pPr>
            <a:r>
              <a:rPr lang="tr"/>
              <a:t>DNS Tunneling davranışsal olarak tespit edildi</a:t>
            </a:r>
            <a:endParaRPr/>
          </a:p>
          <a:p>
            <a:pPr indent="-298450" lvl="0" marL="457200" rtl="0" algn="l">
              <a:spcBef>
                <a:spcPts val="0"/>
              </a:spcBef>
              <a:spcAft>
                <a:spcPts val="0"/>
              </a:spcAft>
              <a:buClr>
                <a:srgbClr val="000000"/>
              </a:buClr>
              <a:buSzPts val="1100"/>
              <a:buFont typeface="Arial"/>
              <a:buChar char="●"/>
            </a:pPr>
            <a:r>
              <a:rPr lang="tr"/>
              <a:t>Zeek betiği modüler ve genişletilebilir</a:t>
            </a:r>
            <a:endParaRPr/>
          </a:p>
          <a:p>
            <a:pPr indent="-298450" lvl="0" marL="457200" rtl="0" algn="l">
              <a:spcBef>
                <a:spcPts val="0"/>
              </a:spcBef>
              <a:spcAft>
                <a:spcPts val="0"/>
              </a:spcAft>
              <a:buClr>
                <a:srgbClr val="000000"/>
              </a:buClr>
              <a:buSzPts val="1100"/>
              <a:buFont typeface="Arial"/>
              <a:buChar char="●"/>
            </a:pPr>
            <a:r>
              <a:rPr lang="tr"/>
              <a:t>Security Onion’a kolayca entegre edilebilir</a:t>
            </a:r>
            <a:endParaRPr/>
          </a:p>
          <a:p>
            <a:pPr indent="-298450" lvl="0" marL="457200" rtl="0" algn="l">
              <a:spcBef>
                <a:spcPts val="0"/>
              </a:spcBef>
              <a:spcAft>
                <a:spcPts val="0"/>
              </a:spcAft>
              <a:buClr>
                <a:srgbClr val="000000"/>
              </a:buClr>
              <a:buSzPts val="1100"/>
              <a:buFont typeface="Arial"/>
              <a:buChar char="●"/>
            </a:pPr>
            <a:r>
              <a:rPr lang="tr"/>
              <a:t>Gelecekte ML tabanlı entropi analizi eklenebilir</a:t>
            </a:r>
            <a:endParaRPr/>
          </a:p>
        </p:txBody>
      </p:sp>
      <p:sp>
        <p:nvSpPr>
          <p:cNvPr id="162" name="Google Shape;162;p2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tr"/>
              <a:t>SON</a:t>
            </a:r>
            <a:endParaRPr/>
          </a:p>
        </p:txBody>
      </p:sp>
      <p:sp>
        <p:nvSpPr>
          <p:cNvPr id="168" name="Google Shape;168;p2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tr"/>
              <a:t>‹#›</a:t>
            </a:fld>
            <a:endParaRPr/>
          </a:p>
        </p:txBody>
      </p:sp>
      <p:sp>
        <p:nvSpPr>
          <p:cNvPr id="169" name="Google Shape;169;p26"/>
          <p:cNvSpPr txBox="1"/>
          <p:nvPr/>
        </p:nvSpPr>
        <p:spPr>
          <a:xfrm>
            <a:off x="371400" y="3876675"/>
            <a:ext cx="84012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a:solidFill>
                  <a:schemeClr val="dk2"/>
                </a:solidFill>
                <a:latin typeface="Source Code Pro"/>
                <a:ea typeface="Source Code Pro"/>
                <a:cs typeface="Source Code Pro"/>
                <a:sym typeface="Source Code Pro"/>
              </a:rPr>
              <a:t>https://github.com/cagatayuresin/ag-guvenligi-ve-analizi-bro-zeek-odevi.git</a:t>
            </a:r>
            <a:endParaRPr>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Yazar - Altbilgili">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